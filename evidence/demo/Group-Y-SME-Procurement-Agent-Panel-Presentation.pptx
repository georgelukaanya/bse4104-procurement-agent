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1685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Normal</c:v>
                </c:pt>
                <c:pt idx="1">
                  <c:v>Edge</c:v>
                </c:pt>
                <c:pt idx="2">
                  <c:v>Incorrect info</c:v>
                </c:pt>
                <c:pt idx="3">
                  <c:v>Adversarial</c:v>
                </c:pt>
                <c:pt idx="4">
                  <c:v>Tool failure</c:v>
                </c:pt>
                <c:pt idx="5">
                  <c:v>Unauthorized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69-D549-A86A-F48D3E08F4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B547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Normal</c:v>
                </c:pt>
                <c:pt idx="1">
                  <c:v>Edge</c:v>
                </c:pt>
                <c:pt idx="2">
                  <c:v>Incorrect info</c:v>
                </c:pt>
                <c:pt idx="3">
                  <c:v>Adversarial</c:v>
                </c:pt>
                <c:pt idx="4">
                  <c:v>Tool failure</c:v>
                </c:pt>
                <c:pt idx="5">
                  <c:v>Unauthorized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69-D549-A86A-F48D3E08F4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7F9FB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16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docs/weekly-reports/final-engineering-report.md,Source: evidence/evaluation/week-07-final/scenario-results.json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docs/requirements/project-charter.md,Source: docs/weekly-reports/final-engineering-report.md, section 2.1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docs/requirements/project-charter.md,Source: docs/requirements/ai-boundary-matrix.md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docs/architecture/working-agent.md,Source: docs/weekly-reports/final-engineering-report.md, section 3.2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docs/architecture/architecture.md,Source: docs/architecture/agent-architecture.md,Source: docs/weekly-reports/final-engineering-report.md, section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docs/requirements/ai-boundary-matrix.md,Source: docs/evaluation/guardrails.md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docs/weekly-reports/final-engineering-report.md, Appendix A,Source: docs/AI-ENGINEERING-LOG.md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contracts/agent-task-contract.json,Source: docs/architecture/state-model.md,Source: docs/evaluation/execution-traces.md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evidence/evaluation/week-07-final/scenario-results.json,Source: evidence/evaluation/week-08-hardening/pytest.txt,Source: docs/weekly-reports/final-engineering-report.md, section 10.1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docs/evaluation/failure-catalogue.md,Source: evidence/evaluation/week-07-final/scenario-results.json,Source: docs/architecture/known-limitations.md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docs/architecture/known-limitations.md,Source: docs/weekly-reports/final-engineering-report.md, section 10.2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docs/weekly-reports/final-engineering-report.md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" name="Text 1"/>
          <p:cNvSpPr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Y  |  BSE4104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857B"/>
          </a:solidFill>
          <a:ln w="1270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5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PROCUREMENT-PREPARATION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Procurement-Preparation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49808" y="2980944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7D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agentic workflow for evidence-based reorder preparation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3794760"/>
            <a:ext cx="4389120" cy="0"/>
          </a:xfrm>
          <a:prstGeom prst="line">
            <a:avLst/>
          </a:prstGeom>
          <a:noFill/>
          <a:ln w="12700">
            <a:solidFill>
              <a:srgbClr val="426174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7" name="Text 5"/>
          <p:cNvSpPr/>
          <p:nvPr/>
        </p:nvSpPr>
        <p:spPr>
          <a:xfrm>
            <a:off x="749808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2016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BSE4104 Emerging Trends in Software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context and project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procurement officer must reconcile stock levels, supplier status, tax, delivery, currency and policy before preparing one reorder request. The inputs arrive in inconsistent formats and the comparison is often manual.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24928" y="1325880"/>
            <a:ext cx="0" cy="4343400"/>
          </a:xfrm>
          <a:prstGeom prst="line">
            <a:avLst/>
          </a:prstGeom>
          <a:noFill/>
          <a:ln w="1651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6" name="Text 4"/>
          <p:cNvSpPr/>
          <p:nvPr/>
        </p:nvSpPr>
        <p:spPr>
          <a:xfrm>
            <a:off x="7818120" y="1353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PAIN POINTS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1737360"/>
            <a:ext cx="33375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Stockouts surface at the counter, after demand is lost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quotations use different units and cost assumptions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checks rely on memory, with weak justification for audit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on the workflow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3337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3319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replenishment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3319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response to fast-moving stock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4142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4123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errors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123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supplier economics or avoidable rework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4946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928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audit trail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9286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without a defensible rationale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objective and engineering contribution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744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helps a procurement officer turn a weekly reorder review into a traceable requisition in DRAFT. AI handles language tasks. Deterministic code performs calculations and rule checks. People retain approval authority.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need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56616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stock at or below reorder point and calculate quantity deterministically.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47288" y="3154680"/>
            <a:ext cx="457200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9" name="Text 7"/>
          <p:cNvSpPr/>
          <p:nvPr/>
        </p:nvSpPr>
        <p:spPr>
          <a:xfrm>
            <a:off x="4096512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viable offers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96512" y="356616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eligibility, normalize landed cost and explain exclusions.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85432" y="3154680"/>
            <a:ext cx="457200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3" name="Text 11"/>
          <p:cNvSpPr/>
          <p:nvPr/>
        </p:nvSpPr>
        <p:spPr>
          <a:xfrm>
            <a:off x="7534656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34656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record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34656" y="356616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one auditable requisition after the officer confirms the evidence.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10652760" cy="594360"/>
          </a:xfrm>
          <a:prstGeom prst="rect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7" name="Text 15"/>
          <p:cNvSpPr/>
          <p:nvPr/>
        </p:nvSpPr>
        <p:spPr>
          <a:xfrm>
            <a:off x="868680" y="5349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5321808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traceable multi-step workflow that combines model-backed extraction and retrieval with bounded tools, persistent state and explicit human gates.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and demonstration sequence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438912" cy="43891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15568" y="1792224"/>
            <a:ext cx="1490472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Cement: 150 bags on hand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bags required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07792" y="1572768"/>
            <a:ext cx="438912" cy="43891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0" name="Text 8"/>
          <p:cNvSpPr/>
          <p:nvPr/>
        </p:nvSpPr>
        <p:spPr>
          <a:xfrm>
            <a:off x="2926080" y="166420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792224"/>
            <a:ext cx="1490472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2" name="Text 10"/>
          <p:cNvSpPr/>
          <p:nvPr/>
        </p:nvSpPr>
        <p:spPr>
          <a:xfrm>
            <a:off x="2907792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07792" y="26974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eligibility and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name-discrepancy checks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75504" y="1572768"/>
            <a:ext cx="438912" cy="43891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5" name="Text 13"/>
          <p:cNvSpPr/>
          <p:nvPr/>
        </p:nvSpPr>
        <p:spPr>
          <a:xfrm>
            <a:off x="5193792" y="166420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0992" y="1792224"/>
            <a:ext cx="1490472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7" name="Text 15"/>
          <p:cNvSpPr/>
          <p:nvPr/>
        </p:nvSpPr>
        <p:spPr>
          <a:xfrm>
            <a:off x="5175504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75504" y="26974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cost calculated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confirmed records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43216" y="1572768"/>
            <a:ext cx="438912" cy="43891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0" name="Text 18"/>
          <p:cNvSpPr/>
          <p:nvPr/>
        </p:nvSpPr>
        <p:spPr>
          <a:xfrm>
            <a:off x="7461504" y="166420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18704" y="1792224"/>
            <a:ext cx="1490472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22" name="Text 20"/>
          <p:cNvSpPr/>
          <p:nvPr/>
        </p:nvSpPr>
        <p:spPr>
          <a:xfrm>
            <a:off x="7443216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43216" y="26974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reviews comparison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authorizes drafting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10928" y="1572768"/>
            <a:ext cx="438912" cy="438912"/>
          </a:xfrm>
          <a:prstGeom prst="ellipse">
            <a:avLst/>
          </a:prstGeom>
          <a:solidFill>
            <a:srgbClr val="16857B"/>
          </a:solidFill>
          <a:ln w="1270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5" name="Text 23"/>
          <p:cNvSpPr/>
          <p:nvPr/>
        </p:nvSpPr>
        <p:spPr>
          <a:xfrm>
            <a:off x="9729216" y="166420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10928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10928" y="26974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created in DRAFT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purchase is executed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CHECKPOINTS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440740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4592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requires officer confirmation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" y="498348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5920" y="5001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write requires explicit confirmation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14032" y="42519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5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8321040" y="4187952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stops at DRAFT. There is no purchasing, supplier contact, payment or autonomous approval capability.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architecture and system boundaries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5" name="Text 3"/>
          <p:cNvSpPr/>
          <p:nvPr/>
        </p:nvSpPr>
        <p:spPr>
          <a:xfrm>
            <a:off x="740664" y="153619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Officer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" y="1856232"/>
            <a:ext cx="1673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review and confirms evidence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E8F3F1"/>
          </a:solidFill>
          <a:ln w="1524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8" name="Text 6"/>
          <p:cNvSpPr/>
          <p:nvPr/>
        </p:nvSpPr>
        <p:spPr>
          <a:xfrm>
            <a:off x="3118104" y="15361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1856232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contract, plans one approved step, saves state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1" name="Text 9"/>
          <p:cNvSpPr/>
          <p:nvPr/>
        </p:nvSpPr>
        <p:spPr>
          <a:xfrm>
            <a:off x="5724144" y="15361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dispatcher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24144" y="1856232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schemas, allow-list, confirmation gates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4" name="Text 12"/>
          <p:cNvSpPr/>
          <p:nvPr/>
        </p:nvSpPr>
        <p:spPr>
          <a:xfrm>
            <a:off x="8330184" y="15361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0184" y="1856232"/>
            <a:ext cx="2953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• Eligibility • Compare • Draft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0" y="1901952"/>
            <a:ext cx="347472" cy="0"/>
          </a:xfrm>
          <a:prstGeom prst="line">
            <a:avLst/>
          </a:prstGeom>
          <a:noFill/>
          <a:ln w="22860">
            <a:solidFill>
              <a:srgbClr val="1685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7" name="Shape 15"/>
          <p:cNvSpPr/>
          <p:nvPr/>
        </p:nvSpPr>
        <p:spPr>
          <a:xfrm>
            <a:off x="5138928" y="1901952"/>
            <a:ext cx="365760" cy="0"/>
          </a:xfrm>
          <a:prstGeom prst="line">
            <a:avLst/>
          </a:prstGeom>
          <a:noFill/>
          <a:ln w="22860">
            <a:solidFill>
              <a:srgbClr val="1685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8" name="Shape 16"/>
          <p:cNvSpPr/>
          <p:nvPr/>
        </p:nvSpPr>
        <p:spPr>
          <a:xfrm>
            <a:off x="7754112" y="1901952"/>
            <a:ext cx="365760" cy="0"/>
          </a:xfrm>
          <a:prstGeom prst="line">
            <a:avLst/>
          </a:prstGeom>
          <a:noFill/>
          <a:ln w="22860">
            <a:solidFill>
              <a:srgbClr val="1685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9" name="Shape 17"/>
          <p:cNvSpPr/>
          <p:nvPr/>
        </p:nvSpPr>
        <p:spPr>
          <a:xfrm>
            <a:off x="4041648" y="2395728"/>
            <a:ext cx="0" cy="685800"/>
          </a:xfrm>
          <a:prstGeom prst="line">
            <a:avLst/>
          </a:prstGeom>
          <a:noFill/>
          <a:ln w="20320">
            <a:solidFill>
              <a:srgbClr val="16857B"/>
            </a:solidFill>
            <a:prstDash val="solid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20" name="Shape 18"/>
          <p:cNvSpPr/>
          <p:nvPr/>
        </p:nvSpPr>
        <p:spPr>
          <a:xfrm>
            <a:off x="2971800" y="315468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1" name="Text 19"/>
          <p:cNvSpPr/>
          <p:nvPr/>
        </p:nvSpPr>
        <p:spPr>
          <a:xfrm>
            <a:off x="3118104" y="32735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state + advisory memory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18104" y="359359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checkpoints; memory can inform display, never a decision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56832" y="2395728"/>
            <a:ext cx="0" cy="685800"/>
          </a:xfrm>
          <a:prstGeom prst="line">
            <a:avLst/>
          </a:prstGeom>
          <a:noFill/>
          <a:ln w="20320">
            <a:solidFill>
              <a:srgbClr val="16857B"/>
            </a:solidFill>
            <a:prstDash val="solid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24" name="Shape 22"/>
          <p:cNvSpPr/>
          <p:nvPr/>
        </p:nvSpPr>
        <p:spPr>
          <a:xfrm>
            <a:off x="5577840" y="315468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5" name="Text 23"/>
          <p:cNvSpPr/>
          <p:nvPr/>
        </p:nvSpPr>
        <p:spPr>
          <a:xfrm>
            <a:off x="5724144" y="32735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traces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24144" y="3593592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 record per tool and agent run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02368" y="2395728"/>
            <a:ext cx="0" cy="685800"/>
          </a:xfrm>
          <a:prstGeom prst="line">
            <a:avLst/>
          </a:prstGeom>
          <a:noFill/>
          <a:ln w="17780">
            <a:solidFill>
              <a:srgbClr val="D9E1E8"/>
            </a:solidFill>
            <a:prstDash val="solid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28" name="Shape 26"/>
          <p:cNvSpPr/>
          <p:nvPr/>
        </p:nvSpPr>
        <p:spPr>
          <a:xfrm>
            <a:off x="8705088" y="3154680"/>
            <a:ext cx="2697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9" name="Text 27"/>
          <p:cNvSpPr/>
          <p:nvPr/>
        </p:nvSpPr>
        <p:spPr>
          <a:xfrm>
            <a:off x="8851392" y="327355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store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51392" y="359359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Inventory, suppliers, quotations, requisitions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MODEL-BACKED SERVICES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" y="5074920"/>
            <a:ext cx="28803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3" name="Text 31"/>
          <p:cNvSpPr/>
          <p:nvPr/>
        </p:nvSpPr>
        <p:spPr>
          <a:xfrm>
            <a:off x="804672" y="51937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extraction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" y="551383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structured fields; no arithmetic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86200" y="5074920"/>
            <a:ext cx="28803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6" name="Text 34"/>
          <p:cNvSpPr/>
          <p:nvPr/>
        </p:nvSpPr>
        <p:spPr>
          <a:xfrm>
            <a:off x="4032504" y="51937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RAG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32504" y="551383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corpus; validated citations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5074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8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gap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5394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and RAG run through separate entry points. The implemented loop uses a deterministic planner.</a:t>
            </a:r>
            <a:endParaRPr lang="en-US" sz="12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boundary and human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2788920" cy="0"/>
          </a:xfrm>
          <a:prstGeom prst="line">
            <a:avLst/>
          </a:prstGeom>
          <a:noFill/>
          <a:ln w="2540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288036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fields from converted quotation text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retrieved policy clauses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language from validated records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33088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decides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33088" y="1901952"/>
            <a:ext cx="27889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9" name="Text 7"/>
          <p:cNvSpPr/>
          <p:nvPr/>
        </p:nvSpPr>
        <p:spPr>
          <a:xfrm>
            <a:off x="4133088" y="2212848"/>
            <a:ext cx="288036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reorder quantity and landed cost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supplier eligibility and ranking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schemas, citations and every write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6096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8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approve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6096" y="1901952"/>
            <a:ext cx="2788920" cy="0"/>
          </a:xfrm>
          <a:prstGeom prst="line">
            <a:avLst/>
          </a:prstGeom>
          <a:noFill/>
          <a:ln w="25400">
            <a:solidFill>
              <a:srgbClr val="C7811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2" name="Text 10"/>
          <p:cNvSpPr/>
          <p:nvPr/>
        </p:nvSpPr>
        <p:spPr>
          <a:xfrm>
            <a:off x="7626096" y="2212848"/>
            <a:ext cx="288036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extracted data and comparison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requisition draft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outside the agent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607040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4" name="Text 12"/>
          <p:cNvSpPr/>
          <p:nvPr/>
        </p:nvSpPr>
        <p:spPr>
          <a:xfrm>
            <a:off x="877824" y="5138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that do not exist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50932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 issuance  •  Supplier contact  •  Payment  •  Award recommendation  •  Programmatic approval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Eight-week engineering progression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workflow; synthetic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1343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0" name="Shape 8"/>
          <p:cNvSpPr/>
          <p:nvPr/>
        </p:nvSpPr>
        <p:spPr>
          <a:xfrm>
            <a:off x="212140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1" name="Text 9"/>
          <p:cNvSpPr/>
          <p:nvPr/>
        </p:nvSpPr>
        <p:spPr>
          <a:xfrm>
            <a:off x="198424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extraction; versioned prompt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075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5" name="Shape 13"/>
          <p:cNvSpPr/>
          <p:nvPr/>
        </p:nvSpPr>
        <p:spPr>
          <a:xfrm>
            <a:off x="353872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6" name="Text 14"/>
          <p:cNvSpPr/>
          <p:nvPr/>
        </p:nvSpPr>
        <p:spPr>
          <a:xfrm>
            <a:off x="340156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documents; 45 clauses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4807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0" name="Shape 18"/>
          <p:cNvSpPr/>
          <p:nvPr/>
        </p:nvSpPr>
        <p:spPr>
          <a:xfrm>
            <a:off x="495604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1" name="Text 19"/>
          <p:cNvSpPr/>
          <p:nvPr/>
        </p:nvSpPr>
        <p:spPr>
          <a:xfrm>
            <a:off x="481888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tools; schema contracts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6539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5" name="Shape 23"/>
          <p:cNvSpPr/>
          <p:nvPr/>
        </p:nvSpPr>
        <p:spPr>
          <a:xfrm>
            <a:off x="637336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26" name="Text 24"/>
          <p:cNvSpPr/>
          <p:nvPr/>
        </p:nvSpPr>
        <p:spPr>
          <a:xfrm>
            <a:off x="623620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3504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loop; stop conditions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8271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0" name="Shape 28"/>
          <p:cNvSpPr/>
          <p:nvPr/>
        </p:nvSpPr>
        <p:spPr>
          <a:xfrm>
            <a:off x="779068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1" name="Text 29"/>
          <p:cNvSpPr/>
          <p:nvPr/>
        </p:nvSpPr>
        <p:spPr>
          <a:xfrm>
            <a:off x="765352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Resume, memory and fingerprints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00032" y="1856232"/>
            <a:ext cx="1078992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5" name="Shape 33"/>
          <p:cNvSpPr/>
          <p:nvPr/>
        </p:nvSpPr>
        <p:spPr>
          <a:xfrm>
            <a:off x="9208008" y="1664208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36" name="Text 34"/>
          <p:cNvSpPr/>
          <p:nvPr/>
        </p:nvSpPr>
        <p:spPr>
          <a:xfrm>
            <a:off x="907084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86968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scenarios; genuine failures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817352" y="1856232"/>
            <a:ext cx="1078992" cy="0"/>
          </a:xfrm>
          <a:prstGeom prst="line">
            <a:avLst/>
          </a:prstGeom>
          <a:noFill/>
          <a:ln w="2540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40" name="Shape 38"/>
          <p:cNvSpPr/>
          <p:nvPr/>
        </p:nvSpPr>
        <p:spPr>
          <a:xfrm>
            <a:off x="10625328" y="1664208"/>
            <a:ext cx="384048" cy="384048"/>
          </a:xfrm>
          <a:prstGeom prst="ellipse">
            <a:avLst/>
          </a:prstGeom>
          <a:solidFill>
            <a:srgbClr val="16857B"/>
          </a:solidFill>
          <a:ln w="1270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41" name="Text 39"/>
          <p:cNvSpPr/>
          <p:nvPr/>
        </p:nvSpPr>
        <p:spPr>
          <a:xfrm>
            <a:off x="10488168" y="12344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78440" y="2395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28700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541 tests; limitation register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658368" y="4773168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preserved failed runs, versioned prompt changes and re-ran the complete evaluation after fixes. Claims in this deck follow the final recorded evidence.</a:t>
            </a:r>
            <a:endParaRPr lang="en-US" sz="16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AGENCY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contract, limits and recovery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5" name="Text 3"/>
          <p:cNvSpPr/>
          <p:nvPr/>
        </p:nvSpPr>
        <p:spPr>
          <a:xfrm>
            <a:off x="804672" y="162763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proposal per iteration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16936" y="1938528"/>
            <a:ext cx="411480" cy="0"/>
          </a:xfrm>
          <a:prstGeom prst="line">
            <a:avLst/>
          </a:prstGeom>
          <a:noFill/>
          <a:ln w="22860">
            <a:solidFill>
              <a:srgbClr val="1685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8" name="Shape 6"/>
          <p:cNvSpPr/>
          <p:nvPr/>
        </p:nvSpPr>
        <p:spPr>
          <a:xfrm>
            <a:off x="3419856" y="150876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9" name="Text 7"/>
          <p:cNvSpPr/>
          <p:nvPr/>
        </p:nvSpPr>
        <p:spPr>
          <a:xfrm>
            <a:off x="3566160" y="162763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947672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allow-listed tool call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78424" y="1938528"/>
            <a:ext cx="411480" cy="0"/>
          </a:xfrm>
          <a:prstGeom prst="line">
            <a:avLst/>
          </a:prstGeom>
          <a:noFill/>
          <a:ln w="22860">
            <a:solidFill>
              <a:srgbClr val="1685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2" name="Shape 10"/>
          <p:cNvSpPr/>
          <p:nvPr/>
        </p:nvSpPr>
        <p:spPr>
          <a:xfrm>
            <a:off x="6181344" y="150876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3" name="Text 11"/>
          <p:cNvSpPr/>
          <p:nvPr/>
        </p:nvSpPr>
        <p:spPr>
          <a:xfrm>
            <a:off x="6327648" y="162763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7648" y="1947672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output and scan guards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39912" y="1938528"/>
            <a:ext cx="411480" cy="0"/>
          </a:xfrm>
          <a:prstGeom prst="line">
            <a:avLst/>
          </a:prstGeom>
          <a:noFill/>
          <a:ln w="22860">
            <a:solidFill>
              <a:srgbClr val="1685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6" name="Shape 14"/>
          <p:cNvSpPr/>
          <p:nvPr/>
        </p:nvSpPr>
        <p:spPr>
          <a:xfrm>
            <a:off x="8942832" y="150876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E8F3F1"/>
          </a:solidFill>
          <a:ln w="15240">
            <a:solidFill>
              <a:srgbClr val="16857B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7" name="Text 15"/>
          <p:cNvSpPr/>
          <p:nvPr/>
        </p:nvSpPr>
        <p:spPr>
          <a:xfrm>
            <a:off x="9089136" y="162763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/ SAVE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89136" y="1947672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Checkpoint, hand off or finish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LIMITS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3383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8368" y="39136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iterations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9856" y="3383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19856" y="39136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time budget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1344" y="3383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81344" y="39136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write-capable tool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42832" y="33832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942832" y="39136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system 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behaviour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423160" y="493776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step remains the current step. A safe re-run resumes from the checkpoint and does not repeat completed work or create a duplicate draft.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design and final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44/45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8562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passed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54680" y="18562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violations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0680" y="1325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40680" y="18562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tests passed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8120" y="18562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calls under 30 s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58368" y="2743200"/>
          <a:ext cx="64922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78181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gates held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818120" y="3364992"/>
            <a:ext cx="31546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arithmetic errors observed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requisitions beyond DRAFT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prohibited actions under adversarial prompts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8120" y="51389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5F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note: document conversion was not built. Model and RAG evidence comes from small live samples.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analysis and remediation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7647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5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 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adversarial quotation completed safely but the model call had no deadline.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2103120"/>
            <a:ext cx="795528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8" name="Text 6"/>
          <p:cNvSpPr/>
          <p:nvPr/>
        </p:nvSpPr>
        <p:spPr>
          <a:xfrm>
            <a:off x="470916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7647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 budget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09160" y="2487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Per-request timeout, disabled retries, watchdog and structured timeout result.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99248" y="2103120"/>
            <a:ext cx="804672" cy="0"/>
          </a:xfrm>
          <a:prstGeom prst="line">
            <a:avLst/>
          </a:prstGeom>
          <a:noFill/>
          <a:ln w="22860">
            <a:solidFill>
              <a:srgbClr val="D9E1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G"/>
          </a:p>
        </p:txBody>
      </p:sp>
      <p:sp>
        <p:nvSpPr>
          <p:cNvPr id="13" name="Text 11"/>
          <p:cNvSpPr/>
          <p:nvPr/>
        </p:nvSpPr>
        <p:spPr>
          <a:xfrm>
            <a:off x="8613648" y="17647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8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timeout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13648" y="24871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 quotation returned a clear failure at 29.95 s. The officer can rerun.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3977640"/>
            <a:ext cx="10424160" cy="1280160"/>
          </a:xfrm>
          <a:prstGeom prst="rect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6" name="Text 14"/>
          <p:cNvSpPr/>
          <p:nvPr/>
        </p:nvSpPr>
        <p:spPr>
          <a:xfrm>
            <a:off x="896112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41605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timeout must be bounded and visible. The 30-second deadline prevents indefinite waits, but production use still requires clear retry rules, repeated live tests and service monitoring.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scope and known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now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48463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Synthetic-data workflow from reorder scan to DRAFT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calculations, eligibility and ranking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tool runs, checkpoints and evaluation evidence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refusals, explicit hand-offs and no duplicate draft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70448" y="1371600"/>
            <a:ext cx="0" cy="4160520"/>
          </a:xfrm>
          <a:prstGeom prst="line">
            <a:avLst/>
          </a:prstGeom>
          <a:noFill/>
          <a:ln w="1524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78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real deployment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63640" y="1965960"/>
            <a:ext cx="48006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authenticated roles and signed confirmations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transactional, access-controlled and encrypted storage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conversion, RAG and model planning into the loop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live evaluation at production scale and define retry policy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5001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engineering step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492861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conversion and policy retrieval into the loop, then evaluate repeated live runs with authenticated users and production-grade storage.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5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62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agent can support procurement preparation without taking procurement authority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2880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main engineering result is the separation of model-backed language tasks from deterministic calculations, tool authorization and human approval.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18120" y="1143000"/>
            <a:ext cx="0" cy="4251960"/>
          </a:xfrm>
          <a:prstGeom prst="line">
            <a:avLst/>
          </a:prstGeom>
          <a:noFill/>
          <a:ln w="15240">
            <a:solidFill>
              <a:srgbClr val="385469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6" name="Text 4"/>
          <p:cNvSpPr/>
          <p:nvPr/>
        </p:nvSpPr>
        <p:spPr>
          <a:xfrm>
            <a:off x="8229600" y="1234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55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1874520"/>
            <a:ext cx="2560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0" y="4773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55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49808" y="5797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Nannyombi Shakiran  •  Ainamani Jim Isaac  •  Beingana Jim Junior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EB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Sekyeza Elroy Nunda  •  Lukaanya George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1297</Words>
  <Application>Microsoft Macintosh PowerPoint</Application>
  <PresentationFormat>Widescreen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Makerere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 Procurement-Preparation Agent</dc:title>
  <dc:subject>BSE4104 SME Procurement-Preparation Agent</dc:subject>
  <dc:creator>Group Y</dc:creator>
  <cp:lastModifiedBy>Jim AINAMANI</cp:lastModifiedBy>
  <cp:revision>2</cp:revision>
  <dcterms:created xsi:type="dcterms:W3CDTF">2026-10-22T07:00:43Z</dcterms:created>
  <dcterms:modified xsi:type="dcterms:W3CDTF">2026-10-22T07:05:20Z</dcterms:modified>
</cp:coreProperties>
</file>