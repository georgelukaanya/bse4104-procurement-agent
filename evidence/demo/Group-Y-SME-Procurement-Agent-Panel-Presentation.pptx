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Pass</c:v>
                </c:pt>
              </c:strCache>
            </c:strRef>
          </c:tx>
          <c:spPr>
            <a:solidFill>
              <a:srgbClr val="14213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G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Normal</c:v>
                </c:pt>
                <c:pt idx="1">
                  <c:v>Edge</c:v>
                </c:pt>
                <c:pt idx="2">
                  <c:v>Incorrect info</c:v>
                </c:pt>
                <c:pt idx="3">
                  <c:v>Adversarial</c:v>
                </c:pt>
                <c:pt idx="4">
                  <c:v>Tool failure</c:v>
                </c:pt>
                <c:pt idx="5">
                  <c:v>Unauthorized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</c:v>
                </c:pt>
                <c:pt idx="1">
                  <c:v>10</c:v>
                </c:pt>
                <c:pt idx="2">
                  <c:v>9</c:v>
                </c:pt>
                <c:pt idx="3">
                  <c:v>8</c:v>
                </c:pt>
                <c:pt idx="4">
                  <c:v>5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769-D549-A86A-F48D3E08F43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Fail</c:v>
                </c:pt>
              </c:strCache>
            </c:strRef>
          </c:tx>
          <c:spPr>
            <a:solidFill>
              <a:srgbClr val="A23B2E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G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Normal</c:v>
                </c:pt>
                <c:pt idx="1">
                  <c:v>Edge</c:v>
                </c:pt>
                <c:pt idx="2">
                  <c:v>Incorrect info</c:v>
                </c:pt>
                <c:pt idx="3">
                  <c:v>Adversarial</c:v>
                </c:pt>
                <c:pt idx="4">
                  <c:v>Tool failure</c:v>
                </c:pt>
                <c:pt idx="5">
                  <c:v>Unauthorized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769-D549-A86A-F48D3E08F43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12700" cap="flat">
              <a:solidFill>
                <a:srgbClr val="E4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7F9FB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Arial"/>
              <a:cs typeface="Arial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01627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docs/weekly-reports/final-engineering-report.md,Source: evidence/evaluation/week-07-final/scenario-results.json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docs/requirements/project-charter.md,Source: docs/weekly-reports/final-engineering-report.md, section 2.1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docs/requirements/project-charter.md,Source: docs/requirements/ai-boundary-matrix.md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docs/architecture/working-agent.md,Source: docs/weekly-reports/final-engineering-report.md, section 3.2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docs/architecture/architecture.md,Source: docs/architecture/agent-architecture.md,Source: docs/weekly-reports/final-engineering-report.md, section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docs/requirements/ai-boundary-matrix.md,Source: docs/evaluation/guardrails.md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docs/weekly-reports/final-engineering-report.md, Appendix A,Source: docs/AI-ENGINEERING-LOG.md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contracts/agent-task-contract.json,Source: docs/architecture/state-model.md,Source: docs/evaluation/execution-traces.md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evidence/evaluation/week-07-final/scenario-results.json,Source: evidence/evaluation/week-08-hardening/pytest.txt,Source: docs/weekly-reports/final-engineering-report.md, section 10.1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docs/evaluation/failure-catalogue.md,Source: evidence/evaluation/week-07-final/scenario-results.json,Source: docs/architecture/known-limitations.md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docs/architecture/known-limitations.md,Source: docs/weekly-reports/final-engineering-report.md, section 10.2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docs/weekly-reports/final-engineering-report.md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RPORATE"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510528"/>
            <a:ext cx="11183112" cy="0"/>
          </a:xfrm>
          <a:prstGeom prst="line">
            <a:avLst/>
          </a:prstGeom>
          <a:noFill/>
          <a:ln w="8890">
            <a:solidFill>
              <a:srgbClr val="D9E1E8"/>
            </a:solidFill>
            <a:prstDash val="solid"/>
          </a:ln>
        </p:spPr>
        <p:txBody>
          <a:bodyPr/>
          <a:lstStyle/>
          <a:p>
            <a:endParaRPr lang="en-UG"/>
          </a:p>
        </p:txBody>
      </p:sp>
      <p:sp>
        <p:nvSpPr>
          <p:cNvPr id="3" name="Text 1"/>
          <p:cNvSpPr/>
          <p:nvPr/>
        </p:nvSpPr>
        <p:spPr>
          <a:xfrm>
            <a:off x="566928" y="6565392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Y  |  BSE4104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38404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09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38404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09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913A"/>
          </a:solidFill>
          <a:ln w="12700">
            <a:solidFill>
              <a:srgbClr val="B8913A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60" dirty="0">
                <a:solidFill>
                  <a:srgbClr val="D4A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 PROCUREMENT-PREPARATION AGENT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13232" y="1828800"/>
            <a:ext cx="8229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SME Procurement-Preparation</a:t>
            </a:r>
            <a:endParaRPr lang="en-US" sz="4800" dirty="0"/>
          </a:p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49808" y="3611880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E9E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bounded agentic workflow for evidence-based reorder preparation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49808" y="4434840"/>
            <a:ext cx="1097280" cy="0"/>
          </a:xfrm>
          <a:prstGeom prst="line">
            <a:avLst/>
          </a:prstGeom>
          <a:noFill/>
          <a:ln w="28575">
            <a:solidFill>
              <a:srgbClr val="B8913A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7" name="Text 5"/>
          <p:cNvSpPr/>
          <p:nvPr/>
        </p:nvSpPr>
        <p:spPr>
          <a:xfrm>
            <a:off x="749808" y="47091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4983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9E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BSE4104 Emerging Trends in Software Engineering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AND SCOPE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Problem context and project scope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6446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procurement officer must reconcile stock levels, supplier status, tax, delivery, currency and policy before preparing one reorder request. The inputs arrive in inconsistent formats and the comparison is often manual.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24928" y="1325880"/>
            <a:ext cx="0" cy="4343400"/>
          </a:xfrm>
          <a:prstGeom prst="line">
            <a:avLst/>
          </a:prstGeom>
          <a:noFill/>
          <a:ln w="16510">
            <a:solidFill>
              <a:srgbClr val="DDD4C2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6" name="Text 4"/>
          <p:cNvSpPr/>
          <p:nvPr/>
        </p:nvSpPr>
        <p:spPr>
          <a:xfrm>
            <a:off x="7818120" y="13533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PAIN POINTS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818120" y="1737360"/>
            <a:ext cx="3337560" cy="2468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Stockouts surface at the counter, after demand is lost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quotations use different units and cost assumptions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checks rely on memory, with weak justification for audit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761488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213D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Effects on the workflow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8368" y="333756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34440" y="3319272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Delayed replenishment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29000" y="331927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Slower response to fast-moving stock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" y="414223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34440" y="4123944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 errors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29000" y="412394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supplier economics or avoidable rework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" y="494690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34440" y="4928616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 audit trail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429000" y="492861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without a defensible rationale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400800"/>
            <a:ext cx="13716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5B574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cxnSp>
        <p:nvCxnSpPr>
          <p:cNvPr id="200" name="Rule 200"/>
          <p:cNvCxnSpPr/>
          <p:nvPr/>
        </p:nvCxnSpPr>
        <p:spPr>
          <a:xfrm>
            <a:off x="621792" y="274320"/>
            <a:ext cx="457200" cy="0"/>
          </a:xfrm>
          <a:prstGeom prst="line">
            <a:avLst/>
          </a:prstGeom>
          <a:ln w="19050">
            <a:solidFill>
              <a:srgbClr val="B8913A"/>
            </a:solidFill>
          </a:ln>
        </p:spPr>
      </p:cxnSp>
      <p:cxnSp>
        <p:nvCxnSpPr>
          <p:cNvPr id="201" name="Rule 201"/>
          <p:cNvCxnSpPr/>
          <p:nvPr/>
        </p:nvCxnSpPr>
        <p:spPr>
          <a:xfrm>
            <a:off x="621792" y="6355080"/>
            <a:ext cx="10945368" cy="0"/>
          </a:xfrm>
          <a:prstGeom prst="line">
            <a:avLst/>
          </a:prstGeom>
          <a:ln w="6350">
            <a:solidFill>
              <a:srgbClr val="DDD4C2"/>
            </a:solidFill>
          </a:ln>
        </p:spPr>
      </p:cxnSp>
      <p:sp>
        <p:nvSpPr>
          <p:cNvPr id="202" name="Footer 202"/>
          <p:cNvSpPr txBox="1"/>
          <p:nvPr/>
        </p:nvSpPr>
        <p:spPr>
          <a:xfrm>
            <a:off x="621792" y="640080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200" dirty="0">
                <a:solidFill>
                  <a:srgbClr val="5B574F"/>
                </a:solidFill>
                <a:latin typeface="Arial"/>
              </a:rPr>
              <a:t>SME Procurement-Preparation Agent  ·  Group 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OBJECTIVE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System objective and engineering contribution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10744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 helps a procurement officer turn a weekly reorder review into a traceable requisition in DRAFT. AI handles language tasks. Deterministic code performs calculations and rule checks. People retain approval authority.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58368" y="251460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29260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Detect the need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58368" y="3566160"/>
            <a:ext cx="2907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 stock at or below reorder point and calculate quantity deterministically.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447288" y="3154680"/>
            <a:ext cx="457200" cy="0"/>
          </a:xfrm>
          <a:prstGeom prst="line">
            <a:avLst/>
          </a:prstGeom>
          <a:noFill/>
          <a:ln w="22860">
            <a:solidFill>
              <a:srgbClr val="DDD4C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G" sz="1400"/>
          </a:p>
        </p:txBody>
      </p:sp>
      <p:sp>
        <p:nvSpPr>
          <p:cNvPr id="9" name="Text 7"/>
          <p:cNvSpPr/>
          <p:nvPr/>
        </p:nvSpPr>
        <p:spPr>
          <a:xfrm>
            <a:off x="4096512" y="251460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096512" y="29260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Compare viable offers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096512" y="3566160"/>
            <a:ext cx="2907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eligibility, normalize landed cost and explain exclusions.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85432" y="3154680"/>
            <a:ext cx="457200" cy="0"/>
          </a:xfrm>
          <a:prstGeom prst="line">
            <a:avLst/>
          </a:prstGeom>
          <a:noFill/>
          <a:ln w="22860">
            <a:solidFill>
              <a:srgbClr val="DDD4C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G" sz="1400"/>
          </a:p>
        </p:txBody>
      </p:sp>
      <p:sp>
        <p:nvSpPr>
          <p:cNvPr id="13" name="Text 11"/>
          <p:cNvSpPr/>
          <p:nvPr/>
        </p:nvSpPr>
        <p:spPr>
          <a:xfrm>
            <a:off x="7534656" y="251460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534656" y="292608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Prepare the record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534656" y="3566160"/>
            <a:ext cx="2907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Compile one auditable requisition after the officer confirms the evidence.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5175504"/>
            <a:ext cx="10652760" cy="594360"/>
          </a:xfrm>
          <a:prstGeom prst="rect">
            <a:avLst/>
          </a:prstGeom>
          <a:solidFill>
            <a:srgbClr val="F1E9D8"/>
          </a:solidFill>
          <a:ln w="12700">
            <a:solidFill>
              <a:srgbClr val="F1E9D8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17" name="Text 15"/>
          <p:cNvSpPr/>
          <p:nvPr/>
        </p:nvSpPr>
        <p:spPr>
          <a:xfrm>
            <a:off x="868680" y="534924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contribution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514600" y="5321808"/>
            <a:ext cx="827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traceable multi-step workflow that combines model-backed extraction and retrieval with bounded tools, persistent state and explicit human gates.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400800"/>
            <a:ext cx="13716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5B574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cxnSp>
        <p:nvCxnSpPr>
          <p:cNvPr id="200" name="Rule 200"/>
          <p:cNvCxnSpPr/>
          <p:nvPr/>
        </p:nvCxnSpPr>
        <p:spPr>
          <a:xfrm>
            <a:off x="621792" y="274320"/>
            <a:ext cx="457200" cy="0"/>
          </a:xfrm>
          <a:prstGeom prst="line">
            <a:avLst/>
          </a:prstGeom>
          <a:ln w="19050">
            <a:solidFill>
              <a:srgbClr val="B8913A"/>
            </a:solidFill>
          </a:ln>
        </p:spPr>
      </p:cxnSp>
      <p:cxnSp>
        <p:nvCxnSpPr>
          <p:cNvPr id="201" name="Rule 201"/>
          <p:cNvCxnSpPr/>
          <p:nvPr/>
        </p:nvCxnSpPr>
        <p:spPr>
          <a:xfrm>
            <a:off x="621792" y="6355080"/>
            <a:ext cx="10945368" cy="0"/>
          </a:xfrm>
          <a:prstGeom prst="line">
            <a:avLst/>
          </a:prstGeom>
          <a:ln w="6350">
            <a:solidFill>
              <a:srgbClr val="DDD4C2"/>
            </a:solidFill>
          </a:ln>
        </p:spPr>
      </p:cxnSp>
      <p:sp>
        <p:nvSpPr>
          <p:cNvPr id="202" name="Footer 202"/>
          <p:cNvSpPr txBox="1"/>
          <p:nvPr/>
        </p:nvSpPr>
        <p:spPr>
          <a:xfrm>
            <a:off x="621792" y="640080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200" dirty="0">
                <a:solidFill>
                  <a:srgbClr val="5B574F"/>
                </a:solidFill>
                <a:latin typeface="Arial"/>
              </a:rPr>
              <a:t>SME Procurement-Preparation Agent  ·  Group 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End-to-end workflow and demonstration sequence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438912" cy="438912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5" name="Text 3"/>
          <p:cNvSpPr/>
          <p:nvPr/>
        </p:nvSpPr>
        <p:spPr>
          <a:xfrm>
            <a:off x="658368" y="1664208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115568" y="1792224"/>
            <a:ext cx="1490472" cy="0"/>
          </a:xfrm>
          <a:prstGeom prst="line">
            <a:avLst/>
          </a:prstGeom>
          <a:noFill/>
          <a:ln w="22860">
            <a:solidFill>
              <a:srgbClr val="DDD4C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G" sz="1400"/>
          </a:p>
        </p:txBody>
      </p:sp>
      <p:sp>
        <p:nvSpPr>
          <p:cNvPr id="7" name="Text 5"/>
          <p:cNvSpPr/>
          <p:nvPr/>
        </p:nvSpPr>
        <p:spPr>
          <a:xfrm>
            <a:off x="640080" y="22402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213D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Scan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080" y="269748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Cement: 150 bags on hand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bags required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907792" y="1572768"/>
            <a:ext cx="438912" cy="438912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10" name="Text 8"/>
          <p:cNvSpPr/>
          <p:nvPr/>
        </p:nvSpPr>
        <p:spPr>
          <a:xfrm>
            <a:off x="2926080" y="1664208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383280" y="1792224"/>
            <a:ext cx="1490472" cy="0"/>
          </a:xfrm>
          <a:prstGeom prst="line">
            <a:avLst/>
          </a:prstGeom>
          <a:noFill/>
          <a:ln w="22860">
            <a:solidFill>
              <a:srgbClr val="DDD4C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G" sz="1400"/>
          </a:p>
        </p:txBody>
      </p:sp>
      <p:sp>
        <p:nvSpPr>
          <p:cNvPr id="12" name="Text 10"/>
          <p:cNvSpPr/>
          <p:nvPr/>
        </p:nvSpPr>
        <p:spPr>
          <a:xfrm>
            <a:off x="2907792" y="22402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213D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907792" y="269748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eligibility and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name-discrepancy checks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175504" y="1572768"/>
            <a:ext cx="438912" cy="438912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15" name="Text 13"/>
          <p:cNvSpPr/>
          <p:nvPr/>
        </p:nvSpPr>
        <p:spPr>
          <a:xfrm>
            <a:off x="5193792" y="1664208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50992" y="1792224"/>
            <a:ext cx="1490472" cy="0"/>
          </a:xfrm>
          <a:prstGeom prst="line">
            <a:avLst/>
          </a:prstGeom>
          <a:noFill/>
          <a:ln w="22860">
            <a:solidFill>
              <a:srgbClr val="DDD4C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G" sz="1400"/>
          </a:p>
        </p:txBody>
      </p:sp>
      <p:sp>
        <p:nvSpPr>
          <p:cNvPr id="17" name="Text 15"/>
          <p:cNvSpPr/>
          <p:nvPr/>
        </p:nvSpPr>
        <p:spPr>
          <a:xfrm>
            <a:off x="5175504" y="22402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213D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Compare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175504" y="269748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Landed cost calculated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confirmed records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443216" y="1572768"/>
            <a:ext cx="438912" cy="438912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20" name="Text 18"/>
          <p:cNvSpPr/>
          <p:nvPr/>
        </p:nvSpPr>
        <p:spPr>
          <a:xfrm>
            <a:off x="7461504" y="1664208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918704" y="1792224"/>
            <a:ext cx="1490472" cy="0"/>
          </a:xfrm>
          <a:prstGeom prst="line">
            <a:avLst/>
          </a:prstGeom>
          <a:noFill/>
          <a:ln w="22860">
            <a:solidFill>
              <a:srgbClr val="DDD4C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G" sz="1400"/>
          </a:p>
        </p:txBody>
      </p:sp>
      <p:sp>
        <p:nvSpPr>
          <p:cNvPr id="22" name="Text 20"/>
          <p:cNvSpPr/>
          <p:nvPr/>
        </p:nvSpPr>
        <p:spPr>
          <a:xfrm>
            <a:off x="7443216" y="22402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213D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Confirm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443216" y="269748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Officer reviews comparison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authorizes drafting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710928" y="1572768"/>
            <a:ext cx="438912" cy="438912"/>
          </a:xfrm>
          <a:prstGeom prst="ellipse">
            <a:avLst/>
          </a:prstGeom>
          <a:solidFill>
            <a:srgbClr val="B8913A"/>
          </a:solidFill>
          <a:ln w="12700">
            <a:solidFill>
              <a:srgbClr val="B8913A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25" name="Text 23"/>
          <p:cNvSpPr/>
          <p:nvPr/>
        </p:nvSpPr>
        <p:spPr>
          <a:xfrm>
            <a:off x="9729216" y="1664208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710928" y="22402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213D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Draft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710928" y="2697480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 created in DRAFT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purchase is executed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58368" y="39776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CHECKPOINTS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8368" y="440740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C6A1F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Gate 2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2926080" y="44256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 requires officer confirmation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58368" y="4983480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C6A1F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Draft confirmation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2926080" y="50017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write requires explicit confirmation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114032" y="4251960"/>
            <a:ext cx="1143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A23B2E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STOP</a:t>
            </a:r>
            <a:endParaRPr lang="en-US" sz="2700" dirty="0"/>
          </a:p>
        </p:txBody>
      </p:sp>
      <p:sp>
        <p:nvSpPr>
          <p:cNvPr id="34" name="Text 32"/>
          <p:cNvSpPr/>
          <p:nvPr/>
        </p:nvSpPr>
        <p:spPr>
          <a:xfrm>
            <a:off x="8321040" y="4187952"/>
            <a:ext cx="27889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workflow stops at DRAFT. There is no purchasing, supplier contact, payment or autonomous approval capability.</a:t>
            </a:r>
            <a:endParaRPr lang="en-US" sz="15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400800"/>
            <a:ext cx="13716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5B574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cxnSp>
        <p:nvCxnSpPr>
          <p:cNvPr id="200" name="Rule 200"/>
          <p:cNvCxnSpPr/>
          <p:nvPr/>
        </p:nvCxnSpPr>
        <p:spPr>
          <a:xfrm>
            <a:off x="621792" y="274320"/>
            <a:ext cx="457200" cy="0"/>
          </a:xfrm>
          <a:prstGeom prst="line">
            <a:avLst/>
          </a:prstGeom>
          <a:ln w="19050">
            <a:solidFill>
              <a:srgbClr val="B8913A"/>
            </a:solidFill>
          </a:ln>
        </p:spPr>
      </p:cxnSp>
      <p:cxnSp>
        <p:nvCxnSpPr>
          <p:cNvPr id="201" name="Rule 201"/>
          <p:cNvCxnSpPr/>
          <p:nvPr/>
        </p:nvCxnSpPr>
        <p:spPr>
          <a:xfrm>
            <a:off x="621792" y="6355080"/>
            <a:ext cx="10945368" cy="0"/>
          </a:xfrm>
          <a:prstGeom prst="line">
            <a:avLst/>
          </a:prstGeom>
          <a:ln w="6350">
            <a:solidFill>
              <a:srgbClr val="DDD4C2"/>
            </a:solidFill>
          </a:ln>
        </p:spPr>
      </p:cxnSp>
      <p:sp>
        <p:nvSpPr>
          <p:cNvPr id="202" name="Footer 202"/>
          <p:cNvSpPr txBox="1"/>
          <p:nvPr/>
        </p:nvSpPr>
        <p:spPr>
          <a:xfrm>
            <a:off x="621792" y="640080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200" dirty="0">
                <a:solidFill>
                  <a:srgbClr val="5B574F"/>
                </a:solidFill>
                <a:latin typeface="Arial"/>
              </a:rPr>
              <a:t>SME Procurement-Preparation Agent  ·  Group 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Implemented architecture and system boundaries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2377440" cy="1188720"/>
          </a:xfrm>
          <a:prstGeom prst="rect">
            <a:avLst>
              <a:gd name="adj" fmla="val 4762"/>
            </a:avLst>
          </a:prstGeom>
          <a:solidFill>
            <a:srgbClr val="FFFFFF"/>
          </a:solidFill>
          <a:ln w="15240">
            <a:solidFill>
              <a:srgbClr val="DDD4C2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5" name="Text 3"/>
          <p:cNvSpPr/>
          <p:nvPr/>
        </p:nvSpPr>
        <p:spPr>
          <a:xfrm>
            <a:off x="722376" y="1519733"/>
            <a:ext cx="2121408" cy="983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Officer</a:t>
            </a:r>
            <a:endParaRPr lang="en-US" sz="1400" dirty="0"/>
          </a:p>
          <a:p>
            <a:pPr marL="0" indent="0" algn="ctr">
              <a:spcBef>
                <a:spcPts val="500"/>
              </a:spcBef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review and confirms evidence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64992" y="1417320"/>
            <a:ext cx="2377440" cy="1188720"/>
          </a:xfrm>
          <a:prstGeom prst="rect">
            <a:avLst>
              <a:gd name="adj" fmla="val 4762"/>
            </a:avLst>
          </a:prstGeom>
          <a:solidFill>
            <a:srgbClr val="F1E9D8"/>
          </a:solidFill>
          <a:ln w="15240">
            <a:solidFill>
              <a:srgbClr val="B8913A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8" name="Text 6"/>
          <p:cNvSpPr/>
          <p:nvPr/>
        </p:nvSpPr>
        <p:spPr>
          <a:xfrm>
            <a:off x="3493008" y="1519733"/>
            <a:ext cx="2121408" cy="983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 workflow</a:t>
            </a:r>
            <a:endParaRPr lang="en-US" sz="1400" dirty="0"/>
          </a:p>
          <a:p>
            <a:pPr marL="0" indent="0" algn="ctr">
              <a:spcBef>
                <a:spcPts val="500"/>
              </a:spcBef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Loads contract, plans one approved step, saves state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35624" y="1417320"/>
            <a:ext cx="2377440" cy="1188720"/>
          </a:xfrm>
          <a:prstGeom prst="rect">
            <a:avLst>
              <a:gd name="adj" fmla="val 4762"/>
            </a:avLst>
          </a:prstGeom>
          <a:solidFill>
            <a:srgbClr val="FFFFFF"/>
          </a:solidFill>
          <a:ln w="15240">
            <a:solidFill>
              <a:srgbClr val="DDD4C2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11" name="Text 9"/>
          <p:cNvSpPr/>
          <p:nvPr/>
        </p:nvSpPr>
        <p:spPr>
          <a:xfrm>
            <a:off x="6263640" y="1519733"/>
            <a:ext cx="2121408" cy="983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Authorized dispatcher</a:t>
            </a:r>
            <a:endParaRPr lang="en-US" sz="1400" dirty="0"/>
          </a:p>
          <a:p>
            <a:pPr marL="0" indent="0" algn="ctr">
              <a:spcBef>
                <a:spcPts val="500"/>
              </a:spcBef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Roles, schemas, allow-list, confirmation gates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906256" y="1417320"/>
            <a:ext cx="2514600" cy="1188720"/>
          </a:xfrm>
          <a:prstGeom prst="rect">
            <a:avLst>
              <a:gd name="adj" fmla="val 4762"/>
            </a:avLst>
          </a:prstGeom>
          <a:solidFill>
            <a:srgbClr val="FFFFFF"/>
          </a:solidFill>
          <a:ln w="15240">
            <a:solidFill>
              <a:srgbClr val="DDD4C2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14" name="Text 12"/>
          <p:cNvSpPr/>
          <p:nvPr/>
        </p:nvSpPr>
        <p:spPr>
          <a:xfrm>
            <a:off x="9034272" y="1519733"/>
            <a:ext cx="2258568" cy="983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tools</a:t>
            </a:r>
            <a:endParaRPr lang="en-US" sz="1400" dirty="0"/>
          </a:p>
          <a:p>
            <a:pPr marL="0" indent="0" algn="ctr">
              <a:spcBef>
                <a:spcPts val="500"/>
              </a:spcBef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Reorder • Eligibility • Compare • Draft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971800" y="2011680"/>
            <a:ext cx="393192" cy="0"/>
          </a:xfrm>
          <a:prstGeom prst="line">
            <a:avLst/>
          </a:prstGeom>
          <a:noFill/>
          <a:ln w="22860">
            <a:solidFill>
              <a:srgbClr val="B8913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G" sz="1400"/>
          </a:p>
        </p:txBody>
      </p:sp>
      <p:sp>
        <p:nvSpPr>
          <p:cNvPr id="17" name="Shape 15"/>
          <p:cNvSpPr/>
          <p:nvPr/>
        </p:nvSpPr>
        <p:spPr>
          <a:xfrm>
            <a:off x="5742432" y="2011680"/>
            <a:ext cx="393192" cy="0"/>
          </a:xfrm>
          <a:prstGeom prst="line">
            <a:avLst/>
          </a:prstGeom>
          <a:noFill/>
          <a:ln w="22860">
            <a:solidFill>
              <a:srgbClr val="B8913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G" sz="1400"/>
          </a:p>
        </p:txBody>
      </p:sp>
      <p:sp>
        <p:nvSpPr>
          <p:cNvPr id="18" name="Shape 16"/>
          <p:cNvSpPr/>
          <p:nvPr/>
        </p:nvSpPr>
        <p:spPr>
          <a:xfrm>
            <a:off x="8513064" y="2011680"/>
            <a:ext cx="393192" cy="0"/>
          </a:xfrm>
          <a:prstGeom prst="line">
            <a:avLst/>
          </a:prstGeom>
          <a:noFill/>
          <a:ln w="22860">
            <a:solidFill>
              <a:srgbClr val="B8913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G" sz="1400"/>
          </a:p>
        </p:txBody>
      </p:sp>
      <p:sp>
        <p:nvSpPr>
          <p:cNvPr id="19" name="Shape 17"/>
          <p:cNvSpPr/>
          <p:nvPr/>
        </p:nvSpPr>
        <p:spPr>
          <a:xfrm>
            <a:off x="4553712" y="2606040"/>
            <a:ext cx="0" cy="640080"/>
          </a:xfrm>
          <a:prstGeom prst="line">
            <a:avLst/>
          </a:prstGeom>
          <a:noFill/>
          <a:ln w="20320">
            <a:solidFill>
              <a:srgbClr val="B8913A"/>
            </a:solidFill>
            <a:prstDash val="solid"/>
            <a:tailEnd type="triangle"/>
          </a:ln>
        </p:spPr>
        <p:txBody>
          <a:bodyPr/>
          <a:lstStyle/>
          <a:p>
            <a:endParaRPr lang="en-UG" sz="1400"/>
          </a:p>
        </p:txBody>
      </p:sp>
      <p:sp>
        <p:nvSpPr>
          <p:cNvPr id="20" name="Shape 18"/>
          <p:cNvSpPr/>
          <p:nvPr/>
        </p:nvSpPr>
        <p:spPr>
          <a:xfrm>
            <a:off x="3364992" y="3246120"/>
            <a:ext cx="2377440" cy="118872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DDD4C2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21" name="Text 19"/>
          <p:cNvSpPr/>
          <p:nvPr/>
        </p:nvSpPr>
        <p:spPr>
          <a:xfrm>
            <a:off x="3493008" y="3348533"/>
            <a:ext cx="2121408" cy="983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state + advisory memory</a:t>
            </a:r>
            <a:endParaRPr lang="en-US" sz="1400" dirty="0"/>
          </a:p>
          <a:p>
            <a:pPr marL="0" indent="0" algn="ctr">
              <a:spcBef>
                <a:spcPts val="500"/>
              </a:spcBef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checkpoints; memory can inform display, never a decision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24344" y="2606040"/>
            <a:ext cx="0" cy="640080"/>
          </a:xfrm>
          <a:prstGeom prst="line">
            <a:avLst/>
          </a:prstGeom>
          <a:noFill/>
          <a:ln w="20320">
            <a:solidFill>
              <a:srgbClr val="B8913A"/>
            </a:solidFill>
            <a:prstDash val="solid"/>
            <a:tailEnd type="triangle"/>
          </a:ln>
        </p:spPr>
        <p:txBody>
          <a:bodyPr/>
          <a:lstStyle/>
          <a:p>
            <a:endParaRPr lang="en-UG" sz="1400"/>
          </a:p>
        </p:txBody>
      </p:sp>
      <p:sp>
        <p:nvSpPr>
          <p:cNvPr id="24" name="Shape 22"/>
          <p:cNvSpPr/>
          <p:nvPr/>
        </p:nvSpPr>
        <p:spPr>
          <a:xfrm>
            <a:off x="6135624" y="3246120"/>
            <a:ext cx="2377440" cy="118872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DDD4C2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25" name="Text 23"/>
          <p:cNvSpPr/>
          <p:nvPr/>
        </p:nvSpPr>
        <p:spPr>
          <a:xfrm>
            <a:off x="6263640" y="3348533"/>
            <a:ext cx="2121408" cy="983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and traces</a:t>
            </a:r>
            <a:endParaRPr lang="en-US" sz="1400" dirty="0"/>
          </a:p>
          <a:p>
            <a:pPr marL="0" indent="0" algn="ctr">
              <a:spcBef>
                <a:spcPts val="500"/>
              </a:spcBef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structured record per tool and agent run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0163556" y="2606040"/>
            <a:ext cx="0" cy="640080"/>
          </a:xfrm>
          <a:prstGeom prst="line">
            <a:avLst/>
          </a:prstGeom>
          <a:noFill/>
          <a:ln w="17780">
            <a:solidFill>
              <a:srgbClr val="DDD4C2"/>
            </a:solidFill>
            <a:prstDash val="solid"/>
            <a:tailEnd type="triangle"/>
          </a:ln>
        </p:spPr>
        <p:txBody>
          <a:bodyPr/>
          <a:lstStyle/>
          <a:p>
            <a:endParaRPr lang="en-UG" sz="1400"/>
          </a:p>
        </p:txBody>
      </p:sp>
      <p:sp>
        <p:nvSpPr>
          <p:cNvPr id="28" name="Shape 26"/>
          <p:cNvSpPr/>
          <p:nvPr/>
        </p:nvSpPr>
        <p:spPr>
          <a:xfrm>
            <a:off x="8906256" y="3246120"/>
            <a:ext cx="2514600" cy="118872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DDD4C2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29" name="Text 27"/>
          <p:cNvSpPr/>
          <p:nvPr/>
        </p:nvSpPr>
        <p:spPr>
          <a:xfrm>
            <a:off x="9034272" y="3348533"/>
            <a:ext cx="2258568" cy="983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data store</a:t>
            </a:r>
            <a:endParaRPr lang="en-US" sz="1400" dirty="0"/>
          </a:p>
          <a:p>
            <a:pPr marL="0" indent="0" algn="ctr">
              <a:spcBef>
                <a:spcPts val="500"/>
              </a:spcBef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Inventory, suppliers, quotations, requisitions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58368" y="46634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MODEL-BACKED SERVICES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58368" y="5029200"/>
            <a:ext cx="3108960" cy="914400"/>
          </a:xfrm>
          <a:prstGeom prst="rect">
            <a:avLst>
              <a:gd name="adj" fmla="val 6024"/>
            </a:avLst>
          </a:prstGeom>
          <a:solidFill>
            <a:srgbClr val="FFFFFF"/>
          </a:solidFill>
          <a:ln w="15240">
            <a:solidFill>
              <a:srgbClr val="DDD4C2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33" name="Text 31"/>
          <p:cNvSpPr/>
          <p:nvPr/>
        </p:nvSpPr>
        <p:spPr>
          <a:xfrm>
            <a:off x="786384" y="5131613"/>
            <a:ext cx="2852928" cy="7095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extraction</a:t>
            </a:r>
            <a:endParaRPr lang="en-US" sz="1400" dirty="0"/>
          </a:p>
          <a:p>
            <a:pPr marL="0" indent="0" algn="ctr">
              <a:spcBef>
                <a:spcPts val="500"/>
              </a:spcBef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structured fields; no arithmetic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4023360" y="5029200"/>
            <a:ext cx="3108960" cy="914400"/>
          </a:xfrm>
          <a:prstGeom prst="rect">
            <a:avLst>
              <a:gd name="adj" fmla="val 6024"/>
            </a:avLst>
          </a:prstGeom>
          <a:solidFill>
            <a:srgbClr val="FFFFFF"/>
          </a:solidFill>
          <a:ln w="15240">
            <a:solidFill>
              <a:srgbClr val="DDD4C2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36" name="Text 34"/>
          <p:cNvSpPr/>
          <p:nvPr/>
        </p:nvSpPr>
        <p:spPr>
          <a:xfrm>
            <a:off x="4151376" y="5131613"/>
            <a:ext cx="2852928" cy="7095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RAG</a:t>
            </a:r>
            <a:endParaRPr lang="en-US" sz="1400" dirty="0"/>
          </a:p>
          <a:p>
            <a:pPr marL="0" indent="0" algn="ctr">
              <a:spcBef>
                <a:spcPts val="500"/>
              </a:spcBef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Controlled corpus; validated citations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498080" y="50292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5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gap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498080" y="534924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and RAG run through separate entry points. The implemented loop uses a deterministic planner.</a:t>
            </a:r>
            <a:endParaRPr lang="en-US" sz="14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400800"/>
            <a:ext cx="13716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5B574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cxnSp>
        <p:nvCxnSpPr>
          <p:cNvPr id="200" name="Rule 200"/>
          <p:cNvCxnSpPr/>
          <p:nvPr/>
        </p:nvCxnSpPr>
        <p:spPr>
          <a:xfrm>
            <a:off x="621792" y="274320"/>
            <a:ext cx="457200" cy="0"/>
          </a:xfrm>
          <a:prstGeom prst="line">
            <a:avLst/>
          </a:prstGeom>
          <a:ln w="19050">
            <a:solidFill>
              <a:srgbClr val="B8913A"/>
            </a:solidFill>
          </a:ln>
        </p:spPr>
      </p:cxnSp>
      <p:cxnSp>
        <p:nvCxnSpPr>
          <p:cNvPr id="201" name="Rule 201"/>
          <p:cNvCxnSpPr/>
          <p:nvPr/>
        </p:nvCxnSpPr>
        <p:spPr>
          <a:xfrm>
            <a:off x="621792" y="6355080"/>
            <a:ext cx="10945368" cy="0"/>
          </a:xfrm>
          <a:prstGeom prst="line">
            <a:avLst/>
          </a:prstGeom>
          <a:ln w="6350">
            <a:solidFill>
              <a:srgbClr val="DDD4C2"/>
            </a:solidFill>
          </a:ln>
        </p:spPr>
      </p:cxnSp>
      <p:sp>
        <p:nvSpPr>
          <p:cNvPr id="202" name="Footer 202"/>
          <p:cNvSpPr txBox="1"/>
          <p:nvPr/>
        </p:nvSpPr>
        <p:spPr>
          <a:xfrm>
            <a:off x="621792" y="640080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200" dirty="0">
                <a:solidFill>
                  <a:srgbClr val="5B574F"/>
                </a:solidFill>
                <a:latin typeface="Arial"/>
              </a:rPr>
              <a:t>SME Procurement-Preparation Agent  ·  Group 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MODEL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AI boundary and human control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8C6A1F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AI may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1901952"/>
            <a:ext cx="2788920" cy="0"/>
          </a:xfrm>
          <a:prstGeom prst="line">
            <a:avLst/>
          </a:prstGeom>
          <a:noFill/>
          <a:ln w="25400">
            <a:solidFill>
              <a:srgbClr val="B8913A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6" name="Text 4"/>
          <p:cNvSpPr/>
          <p:nvPr/>
        </p:nvSpPr>
        <p:spPr>
          <a:xfrm>
            <a:off x="640080" y="2212848"/>
            <a:ext cx="2880360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fields from converted quotation text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retrieved policy clauses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language from validated records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33088" y="144475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213D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Code decides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133088" y="1901952"/>
            <a:ext cx="2788920" cy="0"/>
          </a:xfrm>
          <a:prstGeom prst="line">
            <a:avLst/>
          </a:prstGeom>
          <a:noFill/>
          <a:ln w="254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9" name="Text 7"/>
          <p:cNvSpPr/>
          <p:nvPr/>
        </p:nvSpPr>
        <p:spPr>
          <a:xfrm>
            <a:off x="4133088" y="2212848"/>
            <a:ext cx="2880360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 reorder quantity and landed cost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Determine supplier eligibility and ranking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schemas, citations and every write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626096" y="144475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D5A80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Humans approve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626096" y="1901952"/>
            <a:ext cx="278892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12" name="Text 10"/>
          <p:cNvSpPr/>
          <p:nvPr/>
        </p:nvSpPr>
        <p:spPr>
          <a:xfrm>
            <a:off x="7626096" y="2212848"/>
            <a:ext cx="2880360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extracted data and comparison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 requisition draft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or reject outside the agent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4892040"/>
            <a:ext cx="10607040" cy="749808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14" name="Text 12"/>
          <p:cNvSpPr/>
          <p:nvPr/>
        </p:nvSpPr>
        <p:spPr>
          <a:xfrm>
            <a:off x="877824" y="5138928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Capabilities that do not exist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11880" y="5093208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order issuance  •  Supplier contact  •  Payment  •  Award recommendation  •  Programmatic approval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400800"/>
            <a:ext cx="13716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5B574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cxnSp>
        <p:nvCxnSpPr>
          <p:cNvPr id="200" name="Rule 200"/>
          <p:cNvCxnSpPr/>
          <p:nvPr/>
        </p:nvCxnSpPr>
        <p:spPr>
          <a:xfrm>
            <a:off x="621792" y="274320"/>
            <a:ext cx="457200" cy="0"/>
          </a:xfrm>
          <a:prstGeom prst="line">
            <a:avLst/>
          </a:prstGeom>
          <a:ln w="19050">
            <a:solidFill>
              <a:srgbClr val="B8913A"/>
            </a:solidFill>
          </a:ln>
        </p:spPr>
      </p:cxnSp>
      <p:cxnSp>
        <p:nvCxnSpPr>
          <p:cNvPr id="201" name="Rule 201"/>
          <p:cNvCxnSpPr/>
          <p:nvPr/>
        </p:nvCxnSpPr>
        <p:spPr>
          <a:xfrm>
            <a:off x="621792" y="6355080"/>
            <a:ext cx="10945368" cy="0"/>
          </a:xfrm>
          <a:prstGeom prst="line">
            <a:avLst/>
          </a:prstGeom>
          <a:ln w="6350">
            <a:solidFill>
              <a:srgbClr val="DDD4C2"/>
            </a:solidFill>
          </a:ln>
        </p:spPr>
      </p:cxnSp>
      <p:sp>
        <p:nvSpPr>
          <p:cNvPr id="202" name="Footer 202"/>
          <p:cNvSpPr txBox="1"/>
          <p:nvPr/>
        </p:nvSpPr>
        <p:spPr>
          <a:xfrm>
            <a:off x="621792" y="640080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200" dirty="0">
                <a:solidFill>
                  <a:srgbClr val="5B574F"/>
                </a:solidFill>
                <a:latin typeface="Arial"/>
              </a:rPr>
              <a:t>SME Procurement-Preparation Agent  ·  Group 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DELIVERY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Eight-week engineering progression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96112" y="2084832"/>
            <a:ext cx="1078992" cy="0"/>
          </a:xfrm>
          <a:prstGeom prst="line">
            <a:avLst/>
          </a:prstGeom>
          <a:noFill/>
          <a:ln w="25400">
            <a:solidFill>
              <a:srgbClr val="DDD4C2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5" name="Shape 3"/>
          <p:cNvSpPr/>
          <p:nvPr/>
        </p:nvSpPr>
        <p:spPr>
          <a:xfrm>
            <a:off x="704088" y="1892808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6" name="Text 4"/>
          <p:cNvSpPr/>
          <p:nvPr/>
        </p:nvSpPr>
        <p:spPr>
          <a:xfrm>
            <a:off x="566928" y="14630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2432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Boundary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97180" y="31089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workflow; synthetic data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13432" y="2084832"/>
            <a:ext cx="1078992" cy="0"/>
          </a:xfrm>
          <a:prstGeom prst="line">
            <a:avLst/>
          </a:prstGeom>
          <a:noFill/>
          <a:ln w="25400">
            <a:solidFill>
              <a:srgbClr val="DDD4C2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10" name="Shape 8"/>
          <p:cNvSpPr/>
          <p:nvPr/>
        </p:nvSpPr>
        <p:spPr>
          <a:xfrm>
            <a:off x="2121408" y="1892808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11" name="Text 9"/>
          <p:cNvSpPr/>
          <p:nvPr/>
        </p:nvSpPr>
        <p:spPr>
          <a:xfrm>
            <a:off x="1984248" y="14630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874520" y="262432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714500" y="31089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extraction; versioned prompt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730752" y="2084832"/>
            <a:ext cx="1078992" cy="0"/>
          </a:xfrm>
          <a:prstGeom prst="line">
            <a:avLst/>
          </a:prstGeom>
          <a:noFill/>
          <a:ln w="25400">
            <a:solidFill>
              <a:srgbClr val="DDD4C2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15" name="Shape 13"/>
          <p:cNvSpPr/>
          <p:nvPr/>
        </p:nvSpPr>
        <p:spPr>
          <a:xfrm>
            <a:off x="3538728" y="1892808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16" name="Text 14"/>
          <p:cNvSpPr/>
          <p:nvPr/>
        </p:nvSpPr>
        <p:spPr>
          <a:xfrm>
            <a:off x="3401568" y="14630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291840" y="262432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131820" y="31089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documents; 45 clauses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148072" y="2084832"/>
            <a:ext cx="1078992" cy="0"/>
          </a:xfrm>
          <a:prstGeom prst="line">
            <a:avLst/>
          </a:prstGeom>
          <a:noFill/>
          <a:ln w="25400">
            <a:solidFill>
              <a:srgbClr val="DDD4C2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20" name="Shape 18"/>
          <p:cNvSpPr/>
          <p:nvPr/>
        </p:nvSpPr>
        <p:spPr>
          <a:xfrm>
            <a:off x="4956048" y="1892808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21" name="Text 19"/>
          <p:cNvSpPr/>
          <p:nvPr/>
        </p:nvSpPr>
        <p:spPr>
          <a:xfrm>
            <a:off x="4818888" y="14630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709160" y="262432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49140" y="31089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tools; schema contracts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565392" y="2084832"/>
            <a:ext cx="1078992" cy="0"/>
          </a:xfrm>
          <a:prstGeom prst="line">
            <a:avLst/>
          </a:prstGeom>
          <a:noFill/>
          <a:ln w="25400">
            <a:solidFill>
              <a:srgbClr val="DDD4C2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25" name="Shape 23"/>
          <p:cNvSpPr/>
          <p:nvPr/>
        </p:nvSpPr>
        <p:spPr>
          <a:xfrm>
            <a:off x="6373368" y="1892808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26" name="Text 24"/>
          <p:cNvSpPr/>
          <p:nvPr/>
        </p:nvSpPr>
        <p:spPr>
          <a:xfrm>
            <a:off x="6236208" y="14630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126480" y="262432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966460" y="31089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 loop; stop conditions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982712" y="2084832"/>
            <a:ext cx="1078992" cy="0"/>
          </a:xfrm>
          <a:prstGeom prst="line">
            <a:avLst/>
          </a:prstGeom>
          <a:noFill/>
          <a:ln w="25400">
            <a:solidFill>
              <a:srgbClr val="DDD4C2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30" name="Shape 28"/>
          <p:cNvSpPr/>
          <p:nvPr/>
        </p:nvSpPr>
        <p:spPr>
          <a:xfrm>
            <a:off x="7790688" y="1892808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31" name="Text 29"/>
          <p:cNvSpPr/>
          <p:nvPr/>
        </p:nvSpPr>
        <p:spPr>
          <a:xfrm>
            <a:off x="7653528" y="14630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543800" y="262432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383780" y="31089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Resume, memory and fingerprints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9400032" y="2084832"/>
            <a:ext cx="1078992" cy="0"/>
          </a:xfrm>
          <a:prstGeom prst="line">
            <a:avLst/>
          </a:prstGeom>
          <a:noFill/>
          <a:ln w="25400">
            <a:solidFill>
              <a:srgbClr val="DDD4C2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35" name="Shape 33"/>
          <p:cNvSpPr/>
          <p:nvPr/>
        </p:nvSpPr>
        <p:spPr>
          <a:xfrm>
            <a:off x="9208008" y="1892808"/>
            <a:ext cx="384048" cy="38404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36" name="Text 34"/>
          <p:cNvSpPr/>
          <p:nvPr/>
        </p:nvSpPr>
        <p:spPr>
          <a:xfrm>
            <a:off x="9070848" y="14630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W7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961120" y="262432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801100" y="31089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scenarios; genuine failures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10817352" y="2084832"/>
            <a:ext cx="548640" cy="0"/>
          </a:xfrm>
          <a:prstGeom prst="line">
            <a:avLst/>
          </a:prstGeom>
          <a:noFill/>
          <a:ln w="25400">
            <a:solidFill>
              <a:srgbClr val="B8913A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40" name="Shape 38"/>
          <p:cNvSpPr/>
          <p:nvPr/>
        </p:nvSpPr>
        <p:spPr>
          <a:xfrm>
            <a:off x="10625328" y="1892808"/>
            <a:ext cx="384048" cy="384048"/>
          </a:xfrm>
          <a:prstGeom prst="ellipse">
            <a:avLst/>
          </a:prstGeom>
          <a:solidFill>
            <a:srgbClr val="B8913A"/>
          </a:solidFill>
          <a:ln w="12700">
            <a:solidFill>
              <a:srgbClr val="B8913A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41" name="Text 39"/>
          <p:cNvSpPr/>
          <p:nvPr/>
        </p:nvSpPr>
        <p:spPr>
          <a:xfrm>
            <a:off x="10488168" y="14630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W8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0378440" y="262432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Harden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0218420" y="31089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548 tests; limitation register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58368" y="4572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4213D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Evidence discipline</a:t>
            </a:r>
            <a:endParaRPr lang="en-US" sz="2100" dirty="0"/>
          </a:p>
        </p:txBody>
      </p:sp>
      <p:sp>
        <p:nvSpPr>
          <p:cNvPr id="45" name="Text 43"/>
          <p:cNvSpPr/>
          <p:nvPr/>
        </p:nvSpPr>
        <p:spPr>
          <a:xfrm>
            <a:off x="658368" y="4983480"/>
            <a:ext cx="6446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 preserved failed runs, versioned prompt changes and re-ran the complete evaluation after fixes. Claims in this deck follow the final recorded evidence.</a:t>
            </a:r>
            <a:endParaRPr lang="en-US" sz="1600" dirty="0"/>
          </a:p>
        </p:txBody>
      </p:sp>
      <p:sp>
        <p:nvSpPr>
          <p:cNvPr id="4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400800"/>
            <a:ext cx="13716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5B574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cxnSp>
        <p:nvCxnSpPr>
          <p:cNvPr id="200" name="Rule 200"/>
          <p:cNvCxnSpPr/>
          <p:nvPr/>
        </p:nvCxnSpPr>
        <p:spPr>
          <a:xfrm>
            <a:off x="621792" y="274320"/>
            <a:ext cx="457200" cy="0"/>
          </a:xfrm>
          <a:prstGeom prst="line">
            <a:avLst/>
          </a:prstGeom>
          <a:ln w="19050">
            <a:solidFill>
              <a:srgbClr val="B8913A"/>
            </a:solidFill>
          </a:ln>
        </p:spPr>
      </p:cxnSp>
      <p:cxnSp>
        <p:nvCxnSpPr>
          <p:cNvPr id="201" name="Rule 201"/>
          <p:cNvCxnSpPr/>
          <p:nvPr/>
        </p:nvCxnSpPr>
        <p:spPr>
          <a:xfrm>
            <a:off x="621792" y="6355080"/>
            <a:ext cx="10945368" cy="0"/>
          </a:xfrm>
          <a:prstGeom prst="line">
            <a:avLst/>
          </a:prstGeom>
          <a:ln w="6350">
            <a:solidFill>
              <a:srgbClr val="DDD4C2"/>
            </a:solidFill>
          </a:ln>
        </p:spPr>
      </p:cxnSp>
      <p:sp>
        <p:nvSpPr>
          <p:cNvPr id="202" name="Footer 202"/>
          <p:cNvSpPr txBox="1"/>
          <p:nvPr/>
        </p:nvSpPr>
        <p:spPr>
          <a:xfrm>
            <a:off x="621792" y="640080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200" dirty="0">
                <a:solidFill>
                  <a:srgbClr val="5B574F"/>
                </a:solidFill>
                <a:latin typeface="Arial"/>
              </a:rPr>
              <a:t>SME Procurement-Preparation Agent  ·  Group 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 AGENCY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Agent contract, limits and recovery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58368" y="1508760"/>
            <a:ext cx="2240280" cy="1051560"/>
          </a:xfrm>
          <a:prstGeom prst="rect">
            <a:avLst>
              <a:gd name="adj" fmla="val 5263"/>
            </a:avLst>
          </a:prstGeom>
          <a:solidFill>
            <a:srgbClr val="FFFFFF"/>
          </a:solidFill>
          <a:ln w="15240">
            <a:solidFill>
              <a:srgbClr val="DDD4C2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5" name="Text 3"/>
          <p:cNvSpPr/>
          <p:nvPr/>
        </p:nvSpPr>
        <p:spPr>
          <a:xfrm>
            <a:off x="786384" y="1611173"/>
            <a:ext cx="1984248" cy="846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spc="15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400" dirty="0"/>
          </a:p>
          <a:p>
            <a:pPr marL="0" indent="0" algn="ctr">
              <a:spcBef>
                <a:spcPts val="500"/>
              </a:spcBef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proposal per iteration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916936" y="2029968"/>
            <a:ext cx="411480" cy="0"/>
          </a:xfrm>
          <a:prstGeom prst="line">
            <a:avLst/>
          </a:prstGeom>
          <a:noFill/>
          <a:ln w="22860">
            <a:solidFill>
              <a:srgbClr val="B8913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G" sz="1400"/>
          </a:p>
        </p:txBody>
      </p:sp>
      <p:sp>
        <p:nvSpPr>
          <p:cNvPr id="8" name="Shape 6"/>
          <p:cNvSpPr/>
          <p:nvPr/>
        </p:nvSpPr>
        <p:spPr>
          <a:xfrm>
            <a:off x="3419856" y="1508760"/>
            <a:ext cx="2240280" cy="1051560"/>
          </a:xfrm>
          <a:prstGeom prst="rect">
            <a:avLst>
              <a:gd name="adj" fmla="val 5263"/>
            </a:avLst>
          </a:prstGeom>
          <a:solidFill>
            <a:srgbClr val="FFFFFF"/>
          </a:solidFill>
          <a:ln w="15240">
            <a:solidFill>
              <a:srgbClr val="DDD4C2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9" name="Text 7"/>
          <p:cNvSpPr/>
          <p:nvPr/>
        </p:nvSpPr>
        <p:spPr>
          <a:xfrm>
            <a:off x="3547872" y="1611173"/>
            <a:ext cx="1984248" cy="846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spc="15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</a:t>
            </a:r>
            <a:endParaRPr lang="en-US" sz="1400" dirty="0"/>
          </a:p>
          <a:p>
            <a:pPr marL="0" indent="0" algn="ctr">
              <a:spcBef>
                <a:spcPts val="500"/>
              </a:spcBef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allow-listed tool call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78424" y="2029968"/>
            <a:ext cx="411480" cy="0"/>
          </a:xfrm>
          <a:prstGeom prst="line">
            <a:avLst/>
          </a:prstGeom>
          <a:noFill/>
          <a:ln w="22860">
            <a:solidFill>
              <a:srgbClr val="B8913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G" sz="1400"/>
          </a:p>
        </p:txBody>
      </p:sp>
      <p:sp>
        <p:nvSpPr>
          <p:cNvPr id="12" name="Shape 10"/>
          <p:cNvSpPr/>
          <p:nvPr/>
        </p:nvSpPr>
        <p:spPr>
          <a:xfrm>
            <a:off x="6181344" y="1508760"/>
            <a:ext cx="2240280" cy="1051560"/>
          </a:xfrm>
          <a:prstGeom prst="rect">
            <a:avLst>
              <a:gd name="adj" fmla="val 5263"/>
            </a:avLst>
          </a:prstGeom>
          <a:solidFill>
            <a:srgbClr val="FFFFFF"/>
          </a:solidFill>
          <a:ln w="15240">
            <a:solidFill>
              <a:srgbClr val="DDD4C2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13" name="Text 11"/>
          <p:cNvSpPr/>
          <p:nvPr/>
        </p:nvSpPr>
        <p:spPr>
          <a:xfrm>
            <a:off x="6309360" y="1611173"/>
            <a:ext cx="1984248" cy="846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spc="15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</a:t>
            </a:r>
            <a:endParaRPr lang="en-US" sz="1400" dirty="0"/>
          </a:p>
          <a:p>
            <a:pPr marL="0" indent="0" algn="ctr">
              <a:spcBef>
                <a:spcPts val="500"/>
              </a:spcBef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output and scan guards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439912" y="2029968"/>
            <a:ext cx="411480" cy="0"/>
          </a:xfrm>
          <a:prstGeom prst="line">
            <a:avLst/>
          </a:prstGeom>
          <a:noFill/>
          <a:ln w="22860">
            <a:solidFill>
              <a:srgbClr val="B8913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G" sz="1400"/>
          </a:p>
        </p:txBody>
      </p:sp>
      <p:sp>
        <p:nvSpPr>
          <p:cNvPr id="16" name="Shape 14"/>
          <p:cNvSpPr/>
          <p:nvPr/>
        </p:nvSpPr>
        <p:spPr>
          <a:xfrm>
            <a:off x="8942832" y="1508760"/>
            <a:ext cx="2240280" cy="1051560"/>
          </a:xfrm>
          <a:prstGeom prst="rect">
            <a:avLst>
              <a:gd name="adj" fmla="val 5263"/>
            </a:avLst>
          </a:prstGeom>
          <a:solidFill>
            <a:srgbClr val="F1E9D8"/>
          </a:solidFill>
          <a:ln w="15240">
            <a:solidFill>
              <a:srgbClr val="B8913A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17" name="Text 15"/>
          <p:cNvSpPr/>
          <p:nvPr/>
        </p:nvSpPr>
        <p:spPr>
          <a:xfrm>
            <a:off x="9070848" y="1611173"/>
            <a:ext cx="1984248" cy="846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spc="15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/ SAVE</a:t>
            </a:r>
            <a:endParaRPr lang="en-US" sz="1400" dirty="0"/>
          </a:p>
          <a:p>
            <a:pPr marL="0" indent="0" algn="ctr">
              <a:spcBef>
                <a:spcPts val="500"/>
              </a:spcBef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Checkpoint, hand off or finish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8368" y="2971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LIMITS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58368" y="338328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14213D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58368" y="391363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 iterations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419856" y="338328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14213D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120 s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3419856" y="391363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time budget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181344" y="338328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14213D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6181344" y="391363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write-capable tool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942832" y="338328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8C6A1F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DRAFT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8942832" y="391363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highest system status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58368" y="4983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behaviour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2926080" y="4937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failed step remains the current step. A safe re-run resumes from the checkpoint and does not repeat completed work or create a duplicate draft.</a:t>
            </a:r>
            <a:endParaRPr lang="en-US" sz="15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400800"/>
            <a:ext cx="13716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5B574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cxnSp>
        <p:nvCxnSpPr>
          <p:cNvPr id="200" name="Rule 200"/>
          <p:cNvCxnSpPr/>
          <p:nvPr/>
        </p:nvCxnSpPr>
        <p:spPr>
          <a:xfrm>
            <a:off x="621792" y="274320"/>
            <a:ext cx="457200" cy="0"/>
          </a:xfrm>
          <a:prstGeom prst="line">
            <a:avLst/>
          </a:prstGeom>
          <a:ln w="19050">
            <a:solidFill>
              <a:srgbClr val="B8913A"/>
            </a:solidFill>
          </a:ln>
        </p:spPr>
      </p:cxnSp>
      <p:cxnSp>
        <p:nvCxnSpPr>
          <p:cNvPr id="201" name="Rule 201"/>
          <p:cNvCxnSpPr/>
          <p:nvPr/>
        </p:nvCxnSpPr>
        <p:spPr>
          <a:xfrm>
            <a:off x="621792" y="6355080"/>
            <a:ext cx="10945368" cy="0"/>
          </a:xfrm>
          <a:prstGeom prst="line">
            <a:avLst/>
          </a:prstGeom>
          <a:ln w="6350">
            <a:solidFill>
              <a:srgbClr val="DDD4C2"/>
            </a:solidFill>
          </a:ln>
        </p:spPr>
      </p:cxnSp>
      <p:sp>
        <p:nvSpPr>
          <p:cNvPr id="202" name="Footer 202"/>
          <p:cNvSpPr txBox="1"/>
          <p:nvPr/>
        </p:nvSpPr>
        <p:spPr>
          <a:xfrm>
            <a:off x="621792" y="640080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200" dirty="0">
                <a:solidFill>
                  <a:srgbClr val="5B574F"/>
                </a:solidFill>
                <a:latin typeface="Arial"/>
              </a:rPr>
              <a:t>SME Procurement-Preparation Agent  ·  Group 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Evaluation design and final results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58368" y="1234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8C6A1F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45/45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58368" y="19659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scenarios passed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154680" y="12344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14213D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3154680" y="19659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violations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40680" y="1234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14213D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548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5440680" y="19659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tests passed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81812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14213D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8/8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7818120" y="19659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calls under 30 s</a:t>
            </a:r>
            <a:endParaRPr lang="en-US" sz="1400" dirty="0"/>
          </a:p>
        </p:txBody>
      </p:sp>
      <p:sp>
        <p:nvSpPr>
          <p:cNvPr id="26" name="Text Verified"/>
          <p:cNvSpPr/>
          <p:nvPr/>
        </p:nvSpPr>
        <p:spPr>
          <a:xfrm>
            <a:off x="658368" y="23317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at release v1.0.0, 23 October 2026</a:t>
            </a:r>
            <a:endParaRPr lang="en-US" sz="1400" dirty="0"/>
          </a:p>
        </p:txBody>
      </p:sp>
      <p:graphicFrame>
        <p:nvGraphicFramePr>
          <p:cNvPr id="12" name="Chart 0"/>
          <p:cNvGraphicFramePr/>
          <p:nvPr/>
        </p:nvGraphicFramePr>
        <p:xfrm>
          <a:off x="658368" y="2743200"/>
          <a:ext cx="6492240" cy="2971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Text 10"/>
          <p:cNvSpPr/>
          <p:nvPr/>
        </p:nvSpPr>
        <p:spPr>
          <a:xfrm>
            <a:off x="7818120" y="28803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13D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Hard gates held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7818120" y="3364992"/>
            <a:ext cx="3154680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arithmetic errors observed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requisitions beyond DRAFT</a:t>
            </a:r>
            <a:endParaRPr lang="en-US" sz="1500" dirty="0"/>
          </a:p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prohibited actions under adversarial prompts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818120" y="5138928"/>
            <a:ext cx="3154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i="1" dirty="0">
                <a:solidFill>
                  <a:srgbClr val="5B57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note: document conversion was not built. Model and RAG evidence comes from small live samples.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400800"/>
            <a:ext cx="13716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5B574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cxnSp>
        <p:nvCxnSpPr>
          <p:cNvPr id="200" name="Rule 200"/>
          <p:cNvCxnSpPr/>
          <p:nvPr/>
        </p:nvCxnSpPr>
        <p:spPr>
          <a:xfrm>
            <a:off x="621792" y="274320"/>
            <a:ext cx="457200" cy="0"/>
          </a:xfrm>
          <a:prstGeom prst="line">
            <a:avLst/>
          </a:prstGeom>
          <a:ln w="19050">
            <a:solidFill>
              <a:srgbClr val="B8913A"/>
            </a:solidFill>
          </a:ln>
        </p:spPr>
      </p:cxnSp>
      <p:cxnSp>
        <p:nvCxnSpPr>
          <p:cNvPr id="201" name="Rule 201"/>
          <p:cNvCxnSpPr/>
          <p:nvPr/>
        </p:nvCxnSpPr>
        <p:spPr>
          <a:xfrm>
            <a:off x="621792" y="6355080"/>
            <a:ext cx="10945368" cy="0"/>
          </a:xfrm>
          <a:prstGeom prst="line">
            <a:avLst/>
          </a:prstGeom>
          <a:ln w="6350">
            <a:solidFill>
              <a:srgbClr val="DDD4C2"/>
            </a:solidFill>
          </a:ln>
        </p:spPr>
      </p:cxnSp>
      <p:sp>
        <p:nvSpPr>
          <p:cNvPr id="202" name="Footer 202"/>
          <p:cNvSpPr txBox="1"/>
          <p:nvPr/>
        </p:nvSpPr>
        <p:spPr>
          <a:xfrm>
            <a:off x="621792" y="640080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200" dirty="0">
                <a:solidFill>
                  <a:srgbClr val="5B574F"/>
                </a:solidFill>
                <a:latin typeface="Arial"/>
              </a:rPr>
              <a:t>SME Procurement-Preparation Agent  ·  Group 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EVIDENCE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Failure analysis and remediation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58368" y="1764792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A23B2E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281 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58368" y="2487168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adversarial quotation completed safely but the model call had no deadline.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794760" y="2103120"/>
            <a:ext cx="795528" cy="0"/>
          </a:xfrm>
          <a:prstGeom prst="line">
            <a:avLst/>
          </a:prstGeom>
          <a:noFill/>
          <a:ln w="22860">
            <a:solidFill>
              <a:srgbClr val="DDD4C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G" sz="1400"/>
          </a:p>
        </p:txBody>
      </p:sp>
      <p:sp>
        <p:nvSpPr>
          <p:cNvPr id="8" name="Text 6"/>
          <p:cNvSpPr/>
          <p:nvPr/>
        </p:nvSpPr>
        <p:spPr>
          <a:xfrm>
            <a:off x="4709160" y="1417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spc="15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REMEDIATION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709160" y="1764792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8C6A1F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30 s budget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709160" y="248716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Per-request timeout, disabled retries, watchdog and structured timeout result.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699248" y="2103120"/>
            <a:ext cx="804672" cy="0"/>
          </a:xfrm>
          <a:prstGeom prst="line">
            <a:avLst/>
          </a:prstGeom>
          <a:noFill/>
          <a:ln w="22860">
            <a:solidFill>
              <a:srgbClr val="DDD4C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G" sz="1400"/>
          </a:p>
        </p:txBody>
      </p:sp>
      <p:sp>
        <p:nvSpPr>
          <p:cNvPr id="13" name="Text 11"/>
          <p:cNvSpPr/>
          <p:nvPr/>
        </p:nvSpPr>
        <p:spPr>
          <a:xfrm>
            <a:off x="8613648" y="1764792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3D5A80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1 timeout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613648" y="2487168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clean quotation returned a clear failure at 29.95 s. The officer can rerun.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58368" y="3977640"/>
            <a:ext cx="10424160" cy="1280160"/>
          </a:xfrm>
          <a:prstGeom prst="rect">
            <a:avLst/>
          </a:prstGeom>
          <a:solidFill>
            <a:srgbClr val="F1E9D8"/>
          </a:solidFill>
          <a:ln w="12700">
            <a:solidFill>
              <a:srgbClr val="F1E9D8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16" name="Text 14"/>
          <p:cNvSpPr/>
          <p:nvPr/>
        </p:nvSpPr>
        <p:spPr>
          <a:xfrm>
            <a:off x="896112" y="42519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learned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606040" y="4160520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timeout must be bounded and visible. The 30-second deadline prevents indefinite waits, but production use still requires clear retry rules, repeated live tests and service monitoring.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400800"/>
            <a:ext cx="13716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5B574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cxnSp>
        <p:nvCxnSpPr>
          <p:cNvPr id="200" name="Rule 200"/>
          <p:cNvCxnSpPr/>
          <p:nvPr/>
        </p:nvCxnSpPr>
        <p:spPr>
          <a:xfrm>
            <a:off x="621792" y="274320"/>
            <a:ext cx="457200" cy="0"/>
          </a:xfrm>
          <a:prstGeom prst="line">
            <a:avLst/>
          </a:prstGeom>
          <a:ln w="19050">
            <a:solidFill>
              <a:srgbClr val="B8913A"/>
            </a:solidFill>
          </a:ln>
        </p:spPr>
      </p:cxnSp>
      <p:cxnSp>
        <p:nvCxnSpPr>
          <p:cNvPr id="201" name="Rule 201"/>
          <p:cNvCxnSpPr/>
          <p:nvPr/>
        </p:nvCxnSpPr>
        <p:spPr>
          <a:xfrm>
            <a:off x="621792" y="6355080"/>
            <a:ext cx="10945368" cy="0"/>
          </a:xfrm>
          <a:prstGeom prst="line">
            <a:avLst/>
          </a:prstGeom>
          <a:ln w="6350">
            <a:solidFill>
              <a:srgbClr val="DDD4C2"/>
            </a:solidFill>
          </a:ln>
        </p:spPr>
      </p:cxnSp>
      <p:sp>
        <p:nvSpPr>
          <p:cNvPr id="202" name="Footer 202"/>
          <p:cNvSpPr txBox="1"/>
          <p:nvPr/>
        </p:nvSpPr>
        <p:spPr>
          <a:xfrm>
            <a:off x="621792" y="640080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200" dirty="0">
                <a:solidFill>
                  <a:srgbClr val="5B574F"/>
                </a:solidFill>
                <a:latin typeface="Arial"/>
              </a:rPr>
              <a:t>SME Procurement-Preparation Agent  ·  Group 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329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8C6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Implemented scope and known gaps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58368" y="1417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8C6A1F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Ready now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658368" y="1965960"/>
            <a:ext cx="4846320" cy="2880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Synthetic-data workflow from reorder scan to DRAFT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calculations, eligibility and ranking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Traceable tool runs, checkpoints and evaluation evidence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refusals, explicit hand-offs and no duplicate draft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browser operator view (no login yet)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870448" y="1371600"/>
            <a:ext cx="0" cy="3429000"/>
          </a:xfrm>
          <a:prstGeom prst="line">
            <a:avLst/>
          </a:prstGeom>
          <a:noFill/>
          <a:ln w="15240">
            <a:solidFill>
              <a:srgbClr val="DDD4C2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7" name="Text 5"/>
          <p:cNvSpPr/>
          <p:nvPr/>
        </p:nvSpPr>
        <p:spPr>
          <a:xfrm>
            <a:off x="6263640" y="14173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3D5A80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Before real deployment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263640" y="1965960"/>
            <a:ext cx="4800600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authenticated roles and signed confirmations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transactional, access-controlled and encrypted storage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 conversion, RAG and model planning into the loop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live evaluation at production scale and define retry policy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" y="500176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engineering step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926080" y="492861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2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 conversion and policy retrieval into the loop, then evaluate repeated live runs with authenticated users and production-grade storage.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95560" y="6400800"/>
            <a:ext cx="13716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5B574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cxnSp>
        <p:nvCxnSpPr>
          <p:cNvPr id="200" name="Rule 200"/>
          <p:cNvCxnSpPr/>
          <p:nvPr/>
        </p:nvCxnSpPr>
        <p:spPr>
          <a:xfrm>
            <a:off x="621792" y="274320"/>
            <a:ext cx="457200" cy="0"/>
          </a:xfrm>
          <a:prstGeom prst="line">
            <a:avLst/>
          </a:prstGeom>
          <a:ln w="19050">
            <a:solidFill>
              <a:srgbClr val="B8913A"/>
            </a:solidFill>
          </a:ln>
        </p:spPr>
      </p:cxnSp>
      <p:cxnSp>
        <p:nvCxnSpPr>
          <p:cNvPr id="201" name="Rule 201"/>
          <p:cNvCxnSpPr/>
          <p:nvPr/>
        </p:nvCxnSpPr>
        <p:spPr>
          <a:xfrm>
            <a:off x="621792" y="6355080"/>
            <a:ext cx="10945368" cy="0"/>
          </a:xfrm>
          <a:prstGeom prst="line">
            <a:avLst/>
          </a:prstGeom>
          <a:ln w="6350">
            <a:solidFill>
              <a:srgbClr val="DDD4C2"/>
            </a:solidFill>
          </a:ln>
        </p:spPr>
      </p:cxnSp>
      <p:sp>
        <p:nvSpPr>
          <p:cNvPr id="202" name="Footer 202"/>
          <p:cNvSpPr txBox="1"/>
          <p:nvPr/>
        </p:nvSpPr>
        <p:spPr>
          <a:xfrm>
            <a:off x="621792" y="640080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200" dirty="0">
                <a:solidFill>
                  <a:srgbClr val="5B574F"/>
                </a:solidFill>
                <a:latin typeface="Arial"/>
              </a:rPr>
              <a:t>SME Procurement-Preparation Agent  ·  Group 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583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D4A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13232" y="1051560"/>
            <a:ext cx="6629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A bounded agent can support procurement preparation without taking procurement authority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49808" y="33375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E9E2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main engineering result is the separation of model-backed language tasks from deterministic calculations, tool authorization and human approval.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818120" y="1143000"/>
            <a:ext cx="0" cy="4251960"/>
          </a:xfrm>
          <a:prstGeom prst="line">
            <a:avLst/>
          </a:prstGeom>
          <a:noFill/>
          <a:ln w="15240">
            <a:solidFill>
              <a:srgbClr val="4A5670"/>
            </a:solidFill>
            <a:prstDash val="solid"/>
          </a:ln>
        </p:spPr>
        <p:txBody>
          <a:bodyPr/>
          <a:lstStyle/>
          <a:p>
            <a:endParaRPr lang="en-UG" sz="1400"/>
          </a:p>
        </p:txBody>
      </p:sp>
      <p:sp>
        <p:nvSpPr>
          <p:cNvPr id="6" name="Text 4"/>
          <p:cNvSpPr/>
          <p:nvPr/>
        </p:nvSpPr>
        <p:spPr>
          <a:xfrm>
            <a:off x="8229600" y="12344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120" dirty="0">
                <a:solidFill>
                  <a:srgbClr val="D4AF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1874520"/>
            <a:ext cx="25603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Scan</a:t>
            </a:r>
            <a:endParaRPr lang="en-US" sz="2400" dirty="0"/>
          </a:p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2400" dirty="0"/>
          </a:p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Compare</a:t>
            </a:r>
            <a:endParaRPr lang="en-US" sz="2400" dirty="0"/>
          </a:p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Confirm</a:t>
            </a:r>
            <a:endParaRPr lang="en-US" sz="2400" dirty="0"/>
          </a:p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Draft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0" y="477316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F5A"/>
                </a:solidFill>
                <a:latin typeface="Garamond" pitchFamily="34" charset="0"/>
                <a:ea typeface="Arial" pitchFamily="34" charset="-122"/>
                <a:cs typeface="Arial" pitchFamily="34" charset="-120"/>
              </a:rPr>
              <a:t>Questions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49808" y="5797296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BFB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Nannyombi Shakiran  •  Ainamani Jim Isaac  •  Beingana Jim Junior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BFB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Sekyeza Elroy Nunda  •  Lukaanya George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1297</Words>
  <Application>Microsoft Macintosh PowerPoint</Application>
  <PresentationFormat>Widescreen</PresentationFormat>
  <Paragraphs>240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4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Makerere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SME Procurement-Preparation Agent</dc:title>
  <dc:subject>BSE4104 SME Procurement-Preparation Agent</dc:subject>
  <dc:creator>Group Y</dc:creator>
  <cp:lastModifiedBy>Jim AINAMANI</cp:lastModifiedBy>
  <cp:revision>2</cp:revision>
  <dcterms:created xsi:type="dcterms:W3CDTF">2026-10-22T07:00:43Z</dcterms:created>
  <dcterms:modified xsi:type="dcterms:W3CDTF">2026-10-22T07:05:20Z</dcterms:modified>
</cp:coreProperties>
</file>